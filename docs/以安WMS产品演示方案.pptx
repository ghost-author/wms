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c8080d148a4cb8" /><Relationship Type="http://schemas.openxmlformats.org/officeDocument/2006/relationships/extended-properties" Target="/docProps/app.xml" Id="R7722e8621d864d50" /><Relationship Type="http://schemas.openxmlformats.org/officeDocument/2006/relationships/officeDocument" Target="/ppt/presentation.xml" Id="Rb1b29e74ee5c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39c9bd01f40df"/>
  </p:sldMasterIdLst>
  <p:notesMasterIdLst>
    <p:notesMasterId xmlns:r="http://schemas.openxmlformats.org/officeDocument/2006/relationships" r:id="R48f07c1bdd9b4317"/>
  </p:notesMasterIdLst>
  <p:sldIdLst>
    <p:sldId xmlns:r="http://schemas.openxmlformats.org/officeDocument/2006/relationships" id="256" r:id="Rc7a691bcba334141"/>
    <p:sldId xmlns:r="http://schemas.openxmlformats.org/officeDocument/2006/relationships" id="257" r:id="R6585140aa2fb4d78"/>
    <p:sldId xmlns:r="http://schemas.openxmlformats.org/officeDocument/2006/relationships" id="258" r:id="R90cee0ceafbd4577"/>
    <p:sldId xmlns:r="http://schemas.openxmlformats.org/officeDocument/2006/relationships" id="259" r:id="R003ebb70a4bc435b"/>
    <p:sldId xmlns:r="http://schemas.openxmlformats.org/officeDocument/2006/relationships" id="260" r:id="Re8f1d424b5294950"/>
    <p:sldId xmlns:r="http://schemas.openxmlformats.org/officeDocument/2006/relationships" id="261" r:id="R664e15b3c0654bcf"/>
    <p:sldId xmlns:r="http://schemas.openxmlformats.org/officeDocument/2006/relationships" id="262" r:id="R9712eef9e09847ec"/>
    <p:sldId xmlns:r="http://schemas.openxmlformats.org/officeDocument/2006/relationships" id="263" r:id="R76a23087b8bc4613"/>
    <p:sldId xmlns:r="http://schemas.openxmlformats.org/officeDocument/2006/relationships" id="264" r:id="R1cb2aa65569745c5"/>
    <p:sldId xmlns:r="http://schemas.openxmlformats.org/officeDocument/2006/relationships" id="265" r:id="R0856d64a81594cf3"/>
    <p:sldId xmlns:r="http://schemas.openxmlformats.org/officeDocument/2006/relationships" id="266" r:id="R934a8d9abc5f47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e2cb69180e4769" /><Relationship Type="http://schemas.openxmlformats.org/officeDocument/2006/relationships/slideMaster" Target="/ppt/slideMasters/slideMaster1.xml" Id="R0d639c9bd01f40df" /><Relationship Type="http://schemas.openxmlformats.org/officeDocument/2006/relationships/notesMaster" Target="/ppt/notesMasters/notesMaster1.xml" Id="R48f07c1bdd9b4317" /><Relationship Type="http://schemas.openxmlformats.org/officeDocument/2006/relationships/presProps" Target="/ppt/presProps.xml" Id="R0def31edc76c4942" /><Relationship Type="http://schemas.openxmlformats.org/officeDocument/2006/relationships/tableStyles" Target="/ppt/tableStyles.xml" Id="R1e34a8bb1bc24dc6" /><Relationship Type="http://schemas.openxmlformats.org/officeDocument/2006/relationships/slide" Target="/ppt/slides/slide1.xml" Id="Rc7a691bcba334141" /><Relationship Type="http://schemas.openxmlformats.org/officeDocument/2006/relationships/slide" Target="/ppt/slides/slide2.xml" Id="R6585140aa2fb4d78" /><Relationship Type="http://schemas.openxmlformats.org/officeDocument/2006/relationships/slide" Target="/ppt/slides/slide3.xml" Id="R90cee0ceafbd4577" /><Relationship Type="http://schemas.openxmlformats.org/officeDocument/2006/relationships/slide" Target="/ppt/slides/slide4.xml" Id="R003ebb70a4bc435b" /><Relationship Type="http://schemas.openxmlformats.org/officeDocument/2006/relationships/slide" Target="/ppt/slides/slide5.xml" Id="Re8f1d424b5294950" /><Relationship Type="http://schemas.openxmlformats.org/officeDocument/2006/relationships/slide" Target="/ppt/slides/slide6.xml" Id="R664e15b3c0654bcf" /><Relationship Type="http://schemas.openxmlformats.org/officeDocument/2006/relationships/slide" Target="/ppt/slides/slide7.xml" Id="R9712eef9e09847ec" /><Relationship Type="http://schemas.openxmlformats.org/officeDocument/2006/relationships/slide" Target="/ppt/slides/slide8.xml" Id="R76a23087b8bc4613" /><Relationship Type="http://schemas.openxmlformats.org/officeDocument/2006/relationships/slide" Target="/ppt/slides/slide9.xml" Id="R1cb2aa65569745c5" /><Relationship Type="http://schemas.openxmlformats.org/officeDocument/2006/relationships/slide" Target="/ppt/slides/slide10.xml" Id="R0856d64a81594cf3" /><Relationship Type="http://schemas.openxmlformats.org/officeDocument/2006/relationships/slide" Target="/ppt/slides/slide11.xml" Id="R934a8d9abc5f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1810095b47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562c5ed494a8b" /><Relationship Type="http://schemas.openxmlformats.org/officeDocument/2006/relationships/notesMaster" Target="/ppt/notesMasters/notesMaster1.xml" Id="R8d05807bb4c8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8f62c0458b4e38" /><Relationship Type="http://schemas.openxmlformats.org/officeDocument/2006/relationships/notesMaster" Target="/ppt/notesMasters/notesMaster1.xml" Id="R089d25fe4c9248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76b5577d84633" /><Relationship Type="http://schemas.openxmlformats.org/officeDocument/2006/relationships/notesMaster" Target="/ppt/notesMasters/notesMaster1.xml" Id="R086dcd6bb912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b50ef089af496e" /><Relationship Type="http://schemas.openxmlformats.org/officeDocument/2006/relationships/notesMaster" Target="/ppt/notesMasters/notesMaster1.xml" Id="R231105e08e64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225681dc5c47f4" /><Relationship Type="http://schemas.openxmlformats.org/officeDocument/2006/relationships/notesMaster" Target="/ppt/notesMasters/notesMaster1.xml" Id="R0cdafacd8a36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8ffcf37384139" /><Relationship Type="http://schemas.openxmlformats.org/officeDocument/2006/relationships/notesMaster" Target="/ppt/notesMasters/notesMaster1.xml" Id="R4eacfe461c584d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f079936044420b" /><Relationship Type="http://schemas.openxmlformats.org/officeDocument/2006/relationships/notesMaster" Target="/ppt/notesMasters/notesMaster1.xml" Id="R6a485e6b6e2945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709b2f4b87465c" /><Relationship Type="http://schemas.openxmlformats.org/officeDocument/2006/relationships/notesMaster" Target="/ppt/notesMasters/notesMaster1.xml" Id="R2deb88feed20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ae9902ea32420f" /><Relationship Type="http://schemas.openxmlformats.org/officeDocument/2006/relationships/notesMaster" Target="/ppt/notesMasters/notesMaster1.xml" Id="Rd06ea733219847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27b3628f2491d" /><Relationship Type="http://schemas.openxmlformats.org/officeDocument/2006/relationships/notesMaster" Target="/ppt/notesMasters/notesMaster1.xml" Id="R70e67df0223b47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7420af5a544fad" /><Relationship Type="http://schemas.openxmlformats.org/officeDocument/2006/relationships/notesMaster" Target="/ppt/notesMasters/notesMaster1.xml" Id="R0a7573da3fc54a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主视觉：以安WMS 项目生成资产 docs/assets/以安WMS-智能仓储主视觉.png</a:t>
            </a:r>
          </a:p>
          <a:p xmlns:a="http://schemas.openxmlformats.org/drawingml/2006/main">
            <a:r>
              <a:t>- 页面文案：以安WMS 当前产品范围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问题归纳：以安WMS 当前业务场景与客户演示目标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功能闭环：以安WMS 当前代码实现与业务模型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数据源：sql/demo/wms_demo_seed.sql；3 仓、9 区、14 库位、14 物料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数据源：sql/demo/wms_demo_seed.sql；5 张入库单、今日完成 75 件</a:t>
            </a:r>
          </a:p>
          <a:p xmlns:a="http://schemas.openxmlformats.org/drawingml/2006/main">
            <a:r>
              <a:t>- 实现依据：WmsReceiptServiceImpl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数据源：sql/demo/wms_demo_seed.sql；库存总量 916，上海 474，苏州 442，17 个库存维度</a:t>
            </a:r>
          </a:p>
          <a:p xmlns:a="http://schemas.openxmlformats.org/drawingml/2006/main">
            <a:r>
              <a:t>- 功能依据：库存与低库存查询、Excel 导出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实现依据：WmsStockServiceImpl 直接调拨与库存调整</a:t>
            </a:r>
          </a:p>
          <a:p xmlns:a="http://schemas.openxmlformats.org/drawingml/2006/main">
            <a:r>
              <a:t>- 当前边界：不包含正式调拨/盘点审批单据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数据源：sql/demo/wms_demo_seed.sql；5 张出库单、今日完成 27 件</a:t>
            </a:r>
          </a:p>
          <a:p xmlns:a="http://schemas.openxmlformats.org/drawingml/2006/main">
            <a:r>
              <a:t>- 实现依据：WmsShipmentServiceImpl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数据源：sql/demo/wms_demo_seed.sql 与 wms_demo_refresh.sql；近 7 日入出库趋势、今日入 75 / 出 27</a:t>
            </a:r>
          </a:p>
          <a:p xmlns:a="http://schemas.openxmlformats.org/drawingml/2006/main">
            <a:r>
              <a:t>- 功能依据：Dashboard 运营趋势与仓库库存分布接口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登录截图：以安WMS 当前测试环境 docs/assets/以安WMS-登录页.png</a:t>
            </a:r>
          </a:p>
          <a:p xmlns:a="http://schemas.openxmlformats.org/drawingml/2006/main">
            <a:r>
              <a:t>- 数据源：sql/demo/wms_demo_seed.sql；34 条库存流水</a:t>
            </a:r>
          </a:p>
          <a:p xmlns:a="http://schemas.openxmlformats.org/drawingml/2006/main">
            <a:r>
              <a:t>- 验收依据：deploy/aws-small/install.sh 与 verify.sh；9 类 Excel 导出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试点建议：基于以安WMS 当前仓储核心闭环范围</a:t>
            </a:r>
          </a:p>
          <a:p xmlns:a="http://schemas.openxmlformats.org/drawingml/2006/main">
            <a:r>
              <a:t>- 路线图项目为后续候选能力，不代表当前已实现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188d568c84e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a41a7c939a4b0e" /><Relationship Type="http://schemas.openxmlformats.org/officeDocument/2006/relationships/slideLayout" Target="/ppt/slideLayouts/slideLayout1.xml" Id="R85e6f7d459bf4c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6f7d459bf4c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b24cddf7e4861" /><Relationship Type="http://schemas.openxmlformats.org/officeDocument/2006/relationships/image" Target="/ppt/media/image.png" Id="R5be276552f7b44a2" /><Relationship Type="http://schemas.openxmlformats.org/officeDocument/2006/relationships/notesSlide" Target="/ppt/notesSlides/notesSlide1.xml" Id="R87571f490c9c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417210664f9d" /><Relationship Type="http://schemas.openxmlformats.org/officeDocument/2006/relationships/notesSlide" Target="/ppt/notesSlides/notesSlide2.xml" Id="R12bc9cab8aef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e0ceac4964457" /><Relationship Type="http://schemas.openxmlformats.org/officeDocument/2006/relationships/notesSlide" Target="/ppt/notesSlides/notesSlide3.xml" Id="Ra7fa7a7e16c142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673e9120440e1" /><Relationship Type="http://schemas.openxmlformats.org/officeDocument/2006/relationships/notesSlide" Target="/ppt/notesSlides/notesSlide4.xml" Id="R393ddac887db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e340daba942e2" /><Relationship Type="http://schemas.openxmlformats.org/officeDocument/2006/relationships/notesSlide" Target="/ppt/notesSlides/notesSlide5.xml" Id="R332c5aea9a3e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af9e02b6a4530" /><Relationship Type="http://schemas.openxmlformats.org/officeDocument/2006/relationships/chart" Target="/ppt/slides/charts/chart1.xml" Id="R71d8c7583a2e46d1" /><Relationship Type="http://schemas.openxmlformats.org/officeDocument/2006/relationships/notesSlide" Target="/ppt/notesSlides/notesSlide6.xml" Id="Rd4a730f19c9842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20c4be8de4022" /><Relationship Type="http://schemas.openxmlformats.org/officeDocument/2006/relationships/notesSlide" Target="/ppt/notesSlides/notesSlide7.xml" Id="Rd23ad1999d0640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d7b0ebcac45db" /><Relationship Type="http://schemas.openxmlformats.org/officeDocument/2006/relationships/notesSlide" Target="/ppt/notesSlides/notesSlide8.xml" Id="R4566681210e3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183b005f2412c" /><Relationship Type="http://schemas.openxmlformats.org/officeDocument/2006/relationships/chart" Target="/ppt/slides/charts/chart2.xml" Id="R6e4c1b01912248f3" /><Relationship Type="http://schemas.openxmlformats.org/officeDocument/2006/relationships/notesSlide" Target="/ppt/notesSlides/notesSlide9.xml" Id="R570daaef4fe9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5d2db44f04201" /><Relationship Type="http://schemas.openxmlformats.org/officeDocument/2006/relationships/image" Target="/ppt/media/image.jpeg" Id="R2e64d563728f4b36" /><Relationship Type="http://schemas.openxmlformats.org/officeDocument/2006/relationships/notesSlide" Target="/ppt/notesSlides/notesSlide10.xml" Id="Ra618f5ef48aa4c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11213f1554499" /><Relationship Type="http://schemas.openxmlformats.org/officeDocument/2006/relationships/notesSlide" Target="/ppt/notesSlides/notesSlide11.xml" Id="Rf130b4e4c3eb4b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库存数量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上海中心仓</c:v>
              </c:pt>
              <c:pt idx="1">
                <c:v>苏州履约仓</c:v>
              </c:pt>
            </c:strLit>
          </c:cat>
          <c:val>
            <c:numLit>
              <c:formatCode>General</c:formatCode>
              <c:ptCount val="2"/>
              <c:pt idx="0">
                <c:v>474</c:v>
              </c:pt>
              <c:pt idx="1">
                <c:v>442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A0F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入库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6DCBF4"/>
              </a:solidFill>
            </c:spPr>
          </c:marker>
          <c:cat>
            <c:strLit>
              <c:ptCount val="7"/>
              <c:pt idx="0">
                <c:v>D-6</c:v>
              </c:pt>
              <c:pt idx="1">
                <c:v>D-5</c:v>
              </c:pt>
              <c:pt idx="2">
                <c:v>D-4</c:v>
              </c:pt>
              <c:pt idx="3">
                <c:v>D-3</c:v>
              </c:pt>
              <c:pt idx="4">
                <c:v>D-2</c:v>
              </c:pt>
              <c:pt idx="5">
                <c:v>D-1</c:v>
              </c:pt>
              <c:pt idx="6">
                <c:v>今日</c:v>
              </c:pt>
            </c:strLit>
          </c:cat>
          <c:val>
            <c:numLit>
              <c:formatCode>General</c:formatCode>
              <c:ptCount val="7"/>
              <c:pt idx="0">
                <c:v>120</c:v>
              </c:pt>
              <c:pt idx="1">
                <c:v>0</c:v>
              </c:pt>
              <c:pt idx="2">
                <c:v>0</c:v>
              </c:pt>
              <c:pt idx="3">
                <c:v>18</c:v>
              </c:pt>
              <c:pt idx="4">
                <c:v>0</c:v>
              </c:pt>
              <c:pt idx="5">
                <c:v>0</c:v>
              </c:pt>
              <c:pt idx="6">
                <c:v>75</c:v>
              </c:pt>
            </c:numLit>
          </c:val>
          <c:smooth val="0"/>
        </c:ser>
        <c:ser>
          <c:idx val="1"/>
          <c:order val="1"/>
          <c:tx>
            <c:v>出库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7"/>
              <c:pt idx="0">
                <c:v>D-6</c:v>
              </c:pt>
              <c:pt idx="1">
                <c:v>D-5</c:v>
              </c:pt>
              <c:pt idx="2">
                <c:v>D-4</c:v>
              </c:pt>
              <c:pt idx="3">
                <c:v>D-3</c:v>
              </c:pt>
              <c:pt idx="4">
                <c:v>D-2</c:v>
              </c:pt>
              <c:pt idx="5">
                <c:v>D-1</c:v>
              </c:pt>
              <c:pt idx="6">
                <c:v>今日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71</c:v>
              </c:pt>
              <c:pt idx="2">
                <c:v>0</c:v>
              </c:pt>
              <c:pt idx="3">
                <c:v>0</c:v>
              </c:pt>
              <c:pt idx="4">
                <c:v>7</c:v>
              </c:pt>
              <c:pt idx="5">
                <c:v>0</c:v>
              </c:pt>
              <c:pt idx="6">
                <c:v>27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3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3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0A0F1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276552f7b44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9D862-CFAE-4DB7-A6EB-D40BD16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11E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9E668-6376-4913-8A55-C518F91D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以安 WMS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DC925-24F9-471D-A0C1-EBFF4986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让每一次入库、移动、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盘点与出库都有账可查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1997B-7C2A-4676-8C54-C68CB4A4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24277-6E2C-48D4-91A4-582D55B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仓储核心闭环 · 客户演示方案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AA86A-A619-49A0-BA77-1CC21C49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9F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9F3"/>
                </a:solidFill>
                <a:latin typeface="PingFang SC"/>
                <a:ea typeface="PingFang SC"/>
                <a:cs typeface="PingFang SC"/>
              </a:rPr>
              <a:t>可配置主数据  ·  批次库存  ·  全程流水  ·  运营看板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BE6AF-0899-4A8D-9819-4924FC8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143A4-5AEC-4E95-97DB-63024F8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817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9F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CE9F3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171141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-1">
            <a:extLst xmlns:a="http://schemas.openxmlformats.org/drawingml/2006/main">
              <a:ext uri="{FF2B5EF4-FFF2-40B4-BE49-F238E27FC236}">
                <a16:creationId xmlns:a16="http://schemas.microsoft.com/office/drawing/2014/main" id="{27365D8D-C78E-448D-B59E-94272F8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库存在哪？
状态真实吗？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F942316-AB83-4016-9106-359C845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当收货、移位、盘点和发货分散在表格与口头交接中，责任与差异很难及时定位。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4C1183-EE34-4182-9F61-04BEFC33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客户现场的共同问题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45715-85AF-4601-A710-5A0478D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CCBF3-705C-4008-B078-D79C86A6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33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10D9F-83DC-4473-B008-4873083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多仓账目分散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10B23-6FFC-4D88-AEBE-BD3E692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A0421-44C8-419F-9E73-8C3C621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14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批次状态不清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02AA5-E81F-474F-8572-281EC3F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62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3E7CE-6802-4E3E-8C8B-62F2E438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库存差异滞后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CFA78-B2F6-4F9D-AEBB-0FF124E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62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748BB-768F-4682-ABF8-CB6BA2A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43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操作责任难追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B0157-89F1-44EE-A2EF-2698DE07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EE9CA-9172-4C72-A73C-052974E1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4656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B3082-D62A-4883-B305-83D9DC2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核心价值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5E905D1-1696-43C6-BE40-CF7F59B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把仓储动作连成一条可追溯闭环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8E63E-5C03-4368-8803-A37D46E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0B48E-A9FE-493F-B345-F1E61953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每个环节共享仓库、库区、库位、物料与批次主数据；业务完成后同步库存并留下流水。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CE87-A693-4FBE-A2DF-9C206425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D9FD6-C2AD-405A-96A5-ACDBCB4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114C7-6DEE-4920-9414-2592609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02A2A-C4A5-4D07-A8DF-5F41DAD2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基础资料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0B579-A82F-482E-8E3D-AAC9EEBF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定义仓库与物料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3117C-5508-4FCF-98A3-26CA1013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E2F4-376D-4C24-981D-E54DA28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99256-E716-4D51-9E62-CA1D6E45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入库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9C632-24C3-4794-A16E-665B3B3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到货 / 退货 / 其他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E91A9-F1A2-476D-B39D-F2DEDBF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64B82-C30D-477D-AA24-E6E70B3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D6C50-BA32-4EBD-95D8-64E3F5B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C7D9F-1AA9-4C33-89EE-68075DE6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批次 / 效期 / 预警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071AD-8EDC-4A30-A65F-69762A2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F1151-4CDB-4A02-B44B-F4707F2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A44AD-A4C8-4574-9A26-784FE74A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调拨盘点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F4742-B3BF-412A-8562-CAE85DF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直接调拨与调整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DDF4A-C1CA-4C2B-9023-3E3AA12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D570C-11D6-4C4E-9960-912C70C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89705-1E77-471E-AE27-D565DAA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出库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F1A4D-B14D-4E3A-A556-50EFB91A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销售 / 退货 / 其他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04D86-2608-41AC-AC1C-F51F98D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E99B1-C06C-4E43-A9FE-D1964D5C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B04DE-85CB-4143-924E-C8982000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33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看板追溯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503F4-C738-457A-87DE-B41B332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29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趋势、分布、流水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9DCC03-D3DC-42C8-9F11-80CA586F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1201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0DF36E-DBA4-4C83-80FF-8DD98263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结果：业务状态、库存余额与操作流水在同一套规则中更新，异常可以沿单据与批次回查。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CABA2-B86D-4565-9B39-E8BEF5A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881B9-2A16-4B53-841B-B5E3EFF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8B5E5-8EF8-4172-A001-B2B17D1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795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CC3F7AB-BC1E-4A84-A671-117EB4D0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6483000-2BAD-46B0-8FD8-2474A9B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188DB7B-B966-4AE4-B379-B4B8ECE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E23ED11-A95A-46DD-9F03-5088A75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BADB293-3FCB-4134-A9CD-8C1E2E61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演示数据已覆盖一套真实可讲的仓储网络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4A8A57B-8743-448B-9510-8ABFB638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仓库网络
2 启用 · 1 规划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8D0139B-C294-441B-B1D3-16EE7774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可控库位
容量与启停状态约束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E4086D9-A895-4759-A2F7-581D5F9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366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业务分区
收货 / 存储 / 拣选 / 发运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2320881-CC09-4445-93AA-609D133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仓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3641904-4B81-46A4-9BB2-08ED2DD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区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007601E-0227-40F6-9E50-3F382AC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 位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16EF048-F9DD-43DA-AD4D-821DDD9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智能硬件演示环境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上海中心仓与苏州履约仓启用，北京备件仓作为规划仓保留；同时配置 14 种物料与完整业务数据。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07BD0-581F-4391-8F2A-619DA599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14 种物料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C8D4F-749B-4DF4-B42E-D408880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512E0-00A2-41D4-A20E-B6F7764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43899-D713-4556-BE69-671C4C15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7308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A50766-6FE1-43B5-AA3B-1249C33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入库管理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1F97E63-8EDA-4415-A706-866F970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入库完成时，库存与流水一次落账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B037-3E54-475A-A681-378456F8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78D5A-5743-4051-A904-7B952380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85618-FF49-4252-8254-7EB90B0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D601-6B68-475F-B717-0E58A7C3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D392E-3416-43CD-8D37-2749F2B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建单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B00B4-6D61-46EF-BB93-41EE108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选择仓库与来源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882CE-7724-4B3E-B096-4AA6605A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EE66B-FBB5-4969-AFE5-B56947F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D1B94-C1CE-4ACC-9699-3B4B305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录明细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93229-5C7D-4ACB-B6F2-6E57D132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物料、库位、批次、数量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2944E-2A51-4E66-AF5F-9B5C3A0B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2D024-77B5-4EEF-822D-4D377CA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C8A10-1D2B-4A42-82B0-9D6FC8C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规则校验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6E0B9-C68E-42D5-A86D-E5B4218C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库区类型、库位状态、容量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29255-EC36-418A-8AC8-3808CD0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E3918-9B87-4AC3-80BF-277F76E3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6A86E-E23D-4087-AB50-6DFB543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33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完成入库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53CDB-0CA2-43B5-98C9-BAF13AB4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增加库存并生成 RECEIPT 流水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6BC9B-A430-4B57-8465-670B881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95450"/>
            <a:ext cx="56578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68BA3-80BE-4823-8A50-C65AE89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演示账本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1A2BB-BDF7-4265-8D3D-F58B672E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142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8E6CE-0162-4569-98BE-245E6E1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95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张入库单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C85E3-121F-4F1C-8DA4-6D7F5D9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E5C1F-6109-408D-98D4-A1F50977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3 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A382B-041A-4F6A-873B-0C0CAB8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 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BFF63-84AA-4C56-87D3-F1AA595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481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 已取消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D6DC8-2D3A-4507-BBDF-54ACB46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今日已完成入库 75 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86569C-372D-4DC9-BDFD-67A15096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完成操作采用事务与库位锁，容量检查与库存更新保持一致。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68F00-7606-46A0-A40D-7DDBF9D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05363-4C92-485F-8900-6801AEF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EA2ED-DBDB-481A-8812-561AE9CA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3872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F50FB-83A5-4428-908B-4F35B1D9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库存管理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71D532B-FD0D-452D-9C59-D165321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库存中心给出余额，也保留批次与效期语境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48CDE-1562-4EC3-A1DD-5742DAA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CC6EE-1F16-478E-9D4C-B384C8C1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63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916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95280-0196-4765-91F1-5CCEDB8B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当前演示库存总量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76630-B80D-48EE-B608-E19AB7E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17 个库存维度 · 多仓 · 多库位 · 多批次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857750" y="1600200"/>
          <a:ext xmlns:a="http://schemas.openxmlformats.org/drawingml/2006/main" cx="6572250" cy="2895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d8c7583a2e46d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F6982-D8FD-4651-B9A8-C96819C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06637-0C7A-48B7-BE23-D20B55FF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86499-FFC9-4770-A0DF-9E3D0D6C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生产日期与到期日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D87D3-A8C3-41AF-B2BB-729940F4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530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B1BC3-1489-4326-8EB9-715C1C1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62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可用量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28DF7-9009-4E68-975E-86DFEF90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6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数量减锁定量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05C08-FCBE-48B6-9409-D6477A7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70126-A447-4325-95CC-A3923B6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62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9910C-8C3A-4FD9-8409-761D82C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按仓库识别低库存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5E999-133B-425E-AF75-9BC11350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BDF3E-FC2F-42D4-8DED-BE0DE18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62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导出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A3846-116E-44E1-B699-709EBD0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62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库存与预警可下载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2011D-B771-4DA9-8FC3-1262C1CC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EE4E-6357-4CC4-96A7-28D95B89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7EC03-1805-4185-996D-C4792468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6757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B1ECA-D54E-4041-BBE7-FB2A5990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库存作业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4BA3F88-A1D0-43A4-8B92-E4AA021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调拨与盘点直接改变库存，但每一步都留痕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EC5BC-0110-4E99-8683-233990B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3BA98-97EE-48E9-9B98-B9FDDD2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5238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F3B7E-9E23-48F2-AE25-2038D12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5734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E9224-CF24-4D95-8E69-BA843E2D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直接调拨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7763-1CA2-4056-BD03-35BD7ACE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TRANSFER_OUT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F0E61-2C4D-4CB0-AF45-73D00C7D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2892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B4064-3AF5-4DB3-A444-692E22A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TRANSFER_IN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ED010-7DAB-4BD8-B0FD-889B5A9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45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同一事务完成源库位扣减与目标库位增加；按顺序锁定库位，生成成对流水。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E4645-E07F-4D1E-9D2C-FB62C858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直接盘点调整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16A66-2DF9-4CAD-8C14-BC49A138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+ 盘盈  ADJUST_IN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5D92C-0599-4AC7-9A2A-90CFE47C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− 盘亏  ADJUST_OUT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615BB-187B-4ACE-BE88-1D4FCB4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数量差异与原因写入流水；可在不良品隔离位执行调整。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3D363-E4A1-4B7F-91CF-190A46E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4CE3F-5C1F-4958-9C34-76AC231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8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78B25"/>
                </a:solidFill>
                <a:latin typeface="PingFang SC"/>
                <a:ea typeface="PingFang SC"/>
                <a:cs typeface="PingFang SC"/>
              </a:rPr>
              <a:t>边界说明：当前为直接执行操作，不包含正式调拨单、盘点单、审批与复核流程。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66278-ACDD-4633-B16B-060BC39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95662-BC8B-40F9-AFAC-C37F0C2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107AC-CBAC-42B0-8AB7-D2CFD0EC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0569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8986CB-2F5B-4F8F-9307-EC00ADF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出库管理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C88C7C2-C7EA-4FD2-96DB-F569129A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出库以原子扣减守住“不超卖、不负库”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CAFAA-149C-4F1D-8C79-1604ECE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D9C74-5010-4669-A926-9D0A0397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业务完成前，系统锁定库存维度并校验可用数量；完成后扣减库存、写入 SHIPMENT 流水并关闭单据。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B29C-C5B0-41EF-815E-2744537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AE6E1-2EA9-47F5-90E9-15E6537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1C55A-733C-46B1-BE20-C1979CC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A0CE8-0C44-4218-BDA0-DE072E7A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建单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D5BF6-2E7A-481E-9FF2-AFBBB4F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选择客户与类型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9C49-3558-4CA5-8242-DC73852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1B3A3-6AC6-45A8-8487-B6ABAF3A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7713C-023B-4516-810B-9EC7342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81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录明细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0DE11-0B76-41BA-A4C3-9BD8232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物料、库位、批次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FB5EE-31CB-4DB5-99DD-7286B94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D0EFE-D1A5-4D7A-9E57-3FBCE1AA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E416D-35CC-4424-B548-4F83154E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可用量校验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5DE90-E82C-4409-BC4B-7A2B7F3D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避免负库存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41BB7-0571-47C3-84F8-7314E7BA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860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F47B9-D61C-4ED0-95C0-2C86F65F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A833B-4C25-4119-9DCE-3B357D0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81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完成出库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BEB21-7D47-45A6-9B8F-882AD217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扣减 + 流水 + 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3891-4C3C-43F3-8E88-FDE6E971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1120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9AE01-E504-4972-8B74-341CCED0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5 张出库单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A55D7-04FC-4C16-BDB8-F7DC772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57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 已完成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CC826-071F-4349-9C66-D33EF2A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57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 草稿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534BA-8D54-4C83-81F4-ABBE7C0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57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1 已取消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17192-2B51-494E-9071-DF67F50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57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今日出库 27 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6B63AD-5F11-437C-B467-D397457E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BCB36-817B-46C0-88E3-2E55511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6F7E3-5765-4DFE-A860-A855932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610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EFCBB-7CCD-4D5D-A088-06BD49A7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运营洞察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D385ABC-773F-40BB-9822-3CC6803C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运营看板把今天的动作与近七日节奏放在一起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6CE4C-23E5-4377-94F3-669E976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95300" y="165735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4c1b01912248f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F6033-FEB1-490B-9287-7E0AF51C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600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8059-F4C1-4E6A-A427-EC83DB2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8FB33-F7E7-4F86-87CB-2B5C3F8F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28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今日入库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BAE5B-C151-4254-A235-5177ECF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600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57B36-CE02-4F6C-9447-66CFF8A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B1942-0900-435E-BE27-178A19B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86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今日出库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86D25-5B4B-4952-AEC7-650BDE35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600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599BD-8B92-4B4F-BA1D-8E24DF76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1CAD9-BD8C-43CD-AA3A-F99401E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43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启用仓库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F9A6-3F03-4D97-85B8-CED6281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626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同时提供仓库库存分布与低库存入口，支持从看板跳转到具体库存维度。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0D56A-3C2E-4EFD-9FE7-5B0D1FC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A3B69-0972-4646-9601-43544A7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0AA96-D22C-4C49-9371-887DFB66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829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377DF-E49F-4026-9929-77E9D5FD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治理与交付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E10689E-13BF-432D-9C3E-AF6CDC2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可追溯、可控权、可备份，测试环境可快速交付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3F28-0A2C-44EF-9522-55F1A331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4d563728f4b36"/>
          <a:srcRect xmlns:a="http://schemas.openxmlformats.org/drawingml/2006/main" l="5356" t="0" r="5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19250"/>
            <a:ext cx="5048250" cy="3105150"/>
          </a:xfrm>
          <a:prstGeom xmlns:a="http://schemas.openxmlformats.org/drawingml/2006/main" prst="roundRect">
            <a:avLst>
              <a:gd name="adj" fmla="val 30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AB582-B2CF-42F9-9F73-4E5352C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统一登录入口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05F98-A8AA-44C0-8061-E2E3634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验证码 + JWT 认证，页面与接口由权限标识共同约束。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D8983-450E-42B1-8336-B08130C5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5F6FB-21A0-4B0D-B15B-40A1425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34 条流水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73C73-8A20-46B1-B1CB-ABDE4CB9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入库、出库、调拨、调整与期初余额均可回查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23AAD-BC4B-4199-ACAC-C3428CF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985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DE505-4E62-4839-A732-46656531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角色与权限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EF77-D6FB-456C-9DC4-0B9AA7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新增操作权限独立授权，管理员完整覆盖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56859-4D5C-4C66-8CAA-284EF26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0045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73389-E721-4488-A389-C143F44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备份与验收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FDB42-F0E8-4571-BA3C-F38AB8B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部署前备份数据库，脚本自动校验数据与接口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EEBFD-417E-4BAE-B85F-772E7987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91050"/>
            <a:ext cx="567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F30B1-BA1E-4F5A-A46B-D154ED5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43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9 类导出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C6C65-1E65-4B30-87D8-7CBD2C82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仓库、库区、库位、物料、单据、库存、预警、流水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29A8D-2008-401C-A3CD-3EB0AF2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57850"/>
            <a:ext cx="567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6ABC1-65E2-4621-A998-3500EA49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912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8B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78B25"/>
                </a:solidFill>
                <a:latin typeface="PingFang SC"/>
                <a:ea typeface="PingFang SC"/>
                <a:cs typeface="PingFang SC"/>
              </a:rPr>
              <a:t>Cloudflare Quick Tunnel 仅用于临时测试访问，不代表生产可用性 SLA。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F8A84-2AB7-48C9-B229-010BA20A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037BB-4778-4966-AB5E-B70A8C44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2259B-9D8C-42A9-AECD-22A7D8D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50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39F60-1D7A-413C-AB9B-DD093732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试点建议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3D422CA-9D92-4E85-87BC-4759CD97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先跑通一个仓，再决定下一阶段投入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95D15-8ED4-4836-86F7-A371D1C3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3915C-4947-4CF1-B4B6-E53F35C7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建议从边界清楚的业务单元开始，让主数据、收发与库存责任先闭环，再根据现场价值扩展。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9777-7089-40D8-91B2-29063FC8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C3913-5B73-4F71-92C5-59170E9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90B71-B60F-4634-9F18-547B0792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F9445-091C-4D3F-8509-D8C57A9B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803F0-2072-4ACD-BC21-A077797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1 座试点仓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1 个业务小组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3 类高频物料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2FC47-87C5-44A6-9040-D3B0D681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24A11-B539-4562-AD46-2E43D24D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94848-A2A2-43C7-94D7-F241C5ED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跑通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59D5D-EA4F-4582-B810-41779E33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529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主数据建模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入库 / 库存 / 出库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看板与导出验收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3D6D6-5421-4755-BF88-39595936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49353-959F-4DFC-8167-017D579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36B3F-F42B-46DA-A517-6424C91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E6D47-71F4-4BDC-A542-506649C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复盘差异与效率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确认审批、集成</a:t>
            </a:r>
          </a:p>
          <a:p xmlns:a="http://schemas.openxmlformats.org/drawingml/2006/main">
            <a:pPr algn="l">
              <a:def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和现场设备需求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7BA91-6D93-4F5A-8499-4980414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2DE2D-213A-4871-92AB-36E8874F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A0F15"/>
                </a:solidFill>
                <a:latin typeface="PingFang SC"/>
                <a:ea typeface="PingFang SC"/>
                <a:cs typeface="PingFang SC"/>
              </a:rPr>
              <a:t>路线图候选：正式调拨/盘点审批、供应商与客户主数据、ERP 对接、质检与波次、仓库级数据权限、生产级高可用。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F5DFB-6CBC-424B-BAAD-3F388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7222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0653D-299B-421F-8682-4BAE968C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当前演示范围：仓储核心闭环；页面数据为智能硬件演示数据。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0E2C5-BF86-4FAE-A9B9-E7D17A1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874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5823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2026-08-13T11:47:34.3680000Z</dcterms:created>
  <dcterms:modified xsi:type="dcterms:W3CDTF">2026-08-13T11:47:34.3680000Z</dcterms:modified>
</coreProperties>
</file>